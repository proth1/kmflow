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Loan Officer Onboarding</a:t>
            </a:r>
            <a:br/>
            <a:r>
              <a:t>Process &amp; Systems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49A2A"/>
                </a:solidFill>
              </a:defRPr>
            </a:pPr>
            <a:r>
              <a:t>Meridian National Bank — Residential Lending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HR Training &amp; Development | Updated September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666"/>
                </a:solidFill>
              </a:defRPr>
            </a:pPr>
            <a:r>
              <a:t>INTERNAL USE ONLY — Do Not Distribute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Training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Module 1: Overview of Residential Mortgage Lending at 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Module 2: The Loan Origination Lifecycle — Application to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Module 3: Encompass LOS Navigation &amp; Daily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Module 4: Compliance Requirements — TRID, Fair Lending, BSA/AML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Module 5: Pipeline Management &amp; Borrower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Module 6: Escalation Procedures &amp; Support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Module 7: Performance Expectations &amp;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Assessment: Knowledge Check (passing score: 80%)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2: Loan Origination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BCC"/>
                </a:solidFill>
              </a:defRPr>
            </a:pPr>
            <a: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1. Pre-Qualification / Pre-Approval → Loan Officer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2. Application (1003) &amp; Disclosures → Loan Officer / Encompass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3. Document Collection &amp; Verification → Processor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4. Underwriting Review &amp; Conditions → Underwriter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5. Conditional Approval &amp; Condition Clearing → Processor / Borrower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6. Clear-to-Close &amp; Closing Scheduling → Processor / Closer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7. Funding &amp; Post-Close QC → Closer / QC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Target cycle time: 35 days application-to-funding (current avg: ~42 days)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3: Encompass LOS — Key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BCC"/>
                </a:solidFill>
              </a:defRPr>
            </a:pPr>
            <a:r>
              <a:t>Daily Workflows in the 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Pipeline View: Your active loans, status, alerts, and aging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Loan File: 1003 application, borrower info, property, and loan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Document Tracking: Upload, categorize, and manage loan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Milestone Manager: Track loan stages and automate status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Task Manager: Conditions, suspense items, and action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Reporting: Pull-through, cycle time, and volume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NOTE: WF-008 stale document alerts are currently disabled — check with your processor for doc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4: Compliance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TRID (TILA-RESPA): Loan Estimate within 3 business days of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Closing Disclosure: Delivered 3 business days before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Tolerance thresholds: 0% (most origination charges), 10% (third-party), unlimited (some)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Fair Lending: ECOA/HMDA — never consider prohibited factors in pricing or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BSA/AML: Report suspicious activity; verify borrower identity (CIP)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Privacy: Safeguard NPI; follow Meridian data handling procedures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Violations can result in regulatory action, fines, and termination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5: Pipeline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Monitor your pipeline daily in Encompass Pipeline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Proactive borrower communication: Set expectations on timelines realistically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Current realistic timeline: 40-45 days (do NOT quote 30-day estimates)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Rate lock management: Standard 45-day lock; extensions require manager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Document follow-up: Contact borrowers within 48 hours of any outstanding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Handoff to processor: Complete application package before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Weekly pipeline review with your Branch Manager (Fridays)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6: Escalation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Level 1: Branch Manager — processing delays, borrower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Level 2: Regional Lending Manager — exception requests, rate lock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Level 3: VP Mortgage Lending — complex scenarios, regulatory concerns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Compliance hotline: x4500 — TRID timing concerns, fair lending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IT Help Desk: x2200 — Encompass system issues, access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Use ServiceNow for all formal escalation tickets (Category: Mortgage Operations)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Do NOT use personal email or spreadsheets for loan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7: Performance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Monthly volume target: Varies by branch (discuss with Branch Manager)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Pull-through rate target: ≥75%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Application-to-funding cycle time: Target ≤35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TRID on-time delivery: Target 99%+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Customer satisfaction (post-close survey): Target ≥4.2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Monthly 1:1 with Branch Manager to review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Quarterly performance review aligned to branch origination scorecard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Systems Access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☐ Encompass LOS — Primary loan origination (submit IT ticket for access)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☐ Meridian CRM — Lead management and borrower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☐ Document Management System (DMS) — Secure document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☐ ServiceNow — IT and operational escalation tickets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☐ AUS (DU/LP) — Automated underwriting (read-only for LOs)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☐ Rate Lock System — Integrated in Encompass (requires separate role)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☐ Training Portal — Compliance CBTs due within first 30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Resources &amp; Key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Loan Origination Policy: SharePoint &gt; Lending &gt; Policies &gt; v4.2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Underwriting SOP: SharePoint &gt; Lending &gt;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Self-Employed Income Guide: Ask your processor (informal job aid)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Condition Clearing Reference: Ask Lead Processor (informal job aid)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Training Coordinator: Jennifer Walsh, x3150, walsh.j@meridianbank.com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Encompass Admin: IT Help Desk x2200 or encompass-support@meridianbank.com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Your Branch Manager is your primary resource — don't hesitate to ask!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