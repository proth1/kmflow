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Q3 2025 Lending Division</a:t>
            </a:r>
            <a:br/>
            <a:r>
              <a:t>Performance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49A2A"/>
                </a:solidFill>
              </a:defRPr>
            </a:pPr>
            <a:r>
              <a:t>Board Risk Committee Quarterly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Presented by: Michael Torres, SVP Retail Lending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</a:defRPr>
            </a:pPr>
            <a:r>
              <a:t>October 15, 2025  |  Meridian National Bank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Q3 residential origination volume: $1.47B across 3,218 loans (+6% QoQ)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Average cycle time: 42.3 days (target: 35 days) — improvement from 45.1 days in Q2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Pull-through rate: 71.8% (target: 75%) — stable from Q2's 72.1%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Post-close defect rate: 3.8% (target: &lt;3%) — down from 4.2% in 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TRID compliance: 97.2% on-time LE delivery (target: 99%)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Three open audit findings from FY2025 Internal Audit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Origination Volume Trends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Q1 2025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Q2 2025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Q3 2025</a:t>
                      </a:r>
                    </a:p>
                  </a:txBody>
                  <a:tcPr>
                    <a:solidFill>
                      <a:srgbClr val="002B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Volume ($B)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$1.32B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$1.39B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$1.47B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Loan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2,891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3,218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Avg Loan Size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$456K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$457K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$457K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Channel Mix: Retail Branch 58% | Consumer Direct 24% | Wholesale 18%</a:t>
            </a:r>
            <a:br/>
            <a:r>
              <a:t>Note: Consumer direct channel grew 3 points QoQ driven by digital application enhancements.</a:t>
            </a:r>
            <a:br/>
            <a:r>
              <a:t>Purchase vs. Refi split: 67% / 33% (refi share declining with rate environment)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Cycle Time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BBCC"/>
                </a:solidFill>
              </a:defRPr>
            </a:pPr>
            <a:r>
              <a:t>Days: Application to Funding by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Average application-to-funding: 42.3 days (Q2: 45.1 days, Q1: 44.8 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Pre-underwriting stage: 8.2 days avg — longest bottleneck (document collection)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Underwriting review: 5.4 days avg — stable; conditional approval adds 3.1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Post-CTC to closing: 12.8 days avg — scheduling and title coordination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Self-employed borrower loans: 58.7 days avg — 39% longer than standard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Target of 35 days requires addressing document collection and stale document re-pulls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5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WF-008 stale document alert rule remains disabled — manual tracking in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Pull-Through Rate &amp; Pipeline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Overall pull-through: 71.8% (target: 75%)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Branch channel: 78.2% | Consumer Direct: 62.4% | Wholesale: 69.1%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Top fallout reasons: Borrower withdrew (31%), Credit/DTI decline (28%), Rate shopping (22%)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Active pipeline: $892M across 1,847 loans as of September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Pipeline aging: 23% of active locks &gt; 45 days — risk of lock extension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Rate lock extensions in Q3: 187 loans, $2.1M in extension fees absorbed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Compliance &amp; Quality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TRID Loan Estimate delivery: 97.2% on-time (target: 99%)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Closing Disclosure accuracy: 98.1% (tolerance cure rate: 1.4%)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Post-close QC defect rate: 3.8% (target: &lt;3%) — improving trend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Top defects: Income calculation errors (34%), Missing documentation (28%)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Fair lending monitoring: No statistical anomalies detected in Q3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BSA/AML screening: 100% completion rate; 4 SARs filed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Risks &amp; Open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FINDING: Stale document re-pull process relies on manual tracking (WF-008 disabled since Feb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FINDING: Shadow tracking spreadsheets used by 60%+ of processors outside auditable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FINDING: Loan officer pipeline reports lack consumer direct channel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Remediation: IT change request CR-2025-0892 submitted to re-enable WF-008 with modifications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Remediation: Encompass dashboard enhancement in UAT — target go-live November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Internal Audit FY2025 report issued — 2 Needs Improvement, 1 Satisfactory findings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Q4 2025 Outlook &amp;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Volume forecast: $1.35–1.40B (seasonal decline expected)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Priority 1: Re-enable WF-008 automated stale document alerts by end of October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Priority 2: Eliminate shadow tracking through Encompass workflow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Priority 3: Reduce cycle time to &lt;40 days through document collection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Priority 4: Launch consumer direct pipeline dashboard enhancement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</a:defRPr>
            </a:pPr>
            <a:r>
              <a:t>• Budget request: $180K for Encompass configuration and process automation initiatives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